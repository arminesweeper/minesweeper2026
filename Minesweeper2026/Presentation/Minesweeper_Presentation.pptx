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Norwester" charset="1" panose="00000506000000000000"/>
      <p:regular r:id="rId15"/>
    </p:embeddedFont>
    <p:embeddedFont>
      <p:font typeface="Cerebri Bold" charset="1" panose="00000800000000000000"/>
      <p:regular r:id="rId16"/>
    </p:embeddedFont>
    <p:embeddedFont>
      <p:font typeface="Cerebri" charset="1" panose="000005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380551" y="169626"/>
            <a:ext cx="35279702" cy="11423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969"/>
              </a:lnSpc>
            </a:pPr>
            <a:r>
              <a:rPr lang="en-US" sz="49390" spc="-543">
                <a:solidFill>
                  <a:srgbClr val="171619">
                    <a:alpha val="26667"/>
                  </a:srgbClr>
                </a:solidFill>
                <a:latin typeface="Norwester"/>
                <a:ea typeface="Norwester"/>
                <a:cs typeface="Norwester"/>
                <a:sym typeface="Norwester"/>
              </a:rPr>
              <a:t>ASSIUT </a:t>
            </a:r>
            <a:r>
              <a:rPr lang="en-US" sz="49390" spc="-543">
                <a:solidFill>
                  <a:srgbClr val="171619">
                    <a:alpha val="26667"/>
                  </a:srgbClr>
                </a:solidFill>
                <a:latin typeface="Norwester"/>
                <a:ea typeface="Norwester"/>
                <a:cs typeface="Norwester"/>
                <a:sym typeface="Norwester"/>
              </a:rPr>
              <a:t>ROBOTICS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167989" y="1284762"/>
            <a:ext cx="13952022" cy="7717477"/>
            <a:chOff x="0" y="0"/>
            <a:chExt cx="3674607" cy="20325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674607" cy="2032586"/>
            </a:xfrm>
            <a:custGeom>
              <a:avLst/>
              <a:gdLst/>
              <a:ahLst/>
              <a:cxnLst/>
              <a:rect r="r" b="b" t="t" l="l"/>
              <a:pathLst>
                <a:path h="2032586" w="3674607">
                  <a:moveTo>
                    <a:pt x="28300" y="0"/>
                  </a:moveTo>
                  <a:lnTo>
                    <a:pt x="3646307" y="0"/>
                  </a:lnTo>
                  <a:cubicBezTo>
                    <a:pt x="3653813" y="0"/>
                    <a:pt x="3661011" y="2982"/>
                    <a:pt x="3666318" y="8289"/>
                  </a:cubicBezTo>
                  <a:cubicBezTo>
                    <a:pt x="3671625" y="13596"/>
                    <a:pt x="3674607" y="20794"/>
                    <a:pt x="3674607" y="28300"/>
                  </a:cubicBezTo>
                  <a:lnTo>
                    <a:pt x="3674607" y="2004287"/>
                  </a:lnTo>
                  <a:cubicBezTo>
                    <a:pt x="3674607" y="2011792"/>
                    <a:pt x="3671625" y="2018990"/>
                    <a:pt x="3666318" y="2024298"/>
                  </a:cubicBezTo>
                  <a:cubicBezTo>
                    <a:pt x="3661011" y="2029605"/>
                    <a:pt x="3653813" y="2032586"/>
                    <a:pt x="3646307" y="2032586"/>
                  </a:cubicBezTo>
                  <a:lnTo>
                    <a:pt x="28300" y="2032586"/>
                  </a:lnTo>
                  <a:cubicBezTo>
                    <a:pt x="20794" y="2032586"/>
                    <a:pt x="13596" y="2029605"/>
                    <a:pt x="8289" y="2024298"/>
                  </a:cubicBezTo>
                  <a:cubicBezTo>
                    <a:pt x="2982" y="2018990"/>
                    <a:pt x="0" y="2011792"/>
                    <a:pt x="0" y="2004287"/>
                  </a:cubicBezTo>
                  <a:lnTo>
                    <a:pt x="0" y="28300"/>
                  </a:lnTo>
                  <a:cubicBezTo>
                    <a:pt x="0" y="20794"/>
                    <a:pt x="2982" y="13596"/>
                    <a:pt x="8289" y="8289"/>
                  </a:cubicBezTo>
                  <a:cubicBezTo>
                    <a:pt x="13596" y="2982"/>
                    <a:pt x="20794" y="0"/>
                    <a:pt x="28300" y="0"/>
                  </a:cubicBezTo>
                  <a:close/>
                </a:path>
              </a:pathLst>
            </a:custGeom>
            <a:solidFill>
              <a:srgbClr val="D8D8D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674607" cy="20706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879382" y="3594407"/>
            <a:ext cx="11664203" cy="4638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04"/>
              </a:lnSpc>
            </a:pPr>
            <a:r>
              <a:rPr lang="en-US" sz="17804" spc="-890">
                <a:solidFill>
                  <a:srgbClr val="000000"/>
                </a:solidFill>
                <a:latin typeface="Norwester"/>
                <a:ea typeface="Norwester"/>
                <a:cs typeface="Norwester"/>
                <a:sym typeface="Norwester"/>
              </a:rPr>
              <a:t>MINESWEEPER</a:t>
            </a:r>
          </a:p>
          <a:p>
            <a:pPr algn="l">
              <a:lnSpc>
                <a:spcPts val="17804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2463552" y="-316506"/>
            <a:ext cx="6217336" cy="4620519"/>
          </a:xfrm>
          <a:custGeom>
            <a:avLst/>
            <a:gdLst/>
            <a:ahLst/>
            <a:cxnLst/>
            <a:rect r="r" b="b" t="t" l="l"/>
            <a:pathLst>
              <a:path h="4620519" w="6217336">
                <a:moveTo>
                  <a:pt x="0" y="0"/>
                </a:moveTo>
                <a:lnTo>
                  <a:pt x="6217335" y="0"/>
                </a:lnTo>
                <a:lnTo>
                  <a:pt x="6217335" y="4620519"/>
                </a:lnTo>
                <a:lnTo>
                  <a:pt x="0" y="46205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826" t="-5941" r="-9002" b="-900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347536" y="6432508"/>
            <a:ext cx="4451652" cy="180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b="true" sz="3999" spc="-155">
                <a:solidFill>
                  <a:srgbClr val="000000"/>
                </a:solidFill>
                <a:latin typeface="Cerebri Bold"/>
                <a:ea typeface="Cerebri Bold"/>
                <a:cs typeface="Cerebri Bold"/>
                <a:sym typeface="Cerebri Bold"/>
              </a:rPr>
              <a:t>BY  </a:t>
            </a:r>
          </a:p>
          <a:p>
            <a:pPr algn="ctr">
              <a:lnSpc>
                <a:spcPts val="4799"/>
              </a:lnSpc>
            </a:pPr>
            <a:r>
              <a:rPr lang="en-US" b="true" sz="3999" spc="-155">
                <a:solidFill>
                  <a:srgbClr val="000000"/>
                </a:solidFill>
                <a:latin typeface="Cerebri Bold"/>
                <a:ea typeface="Cerebri Bold"/>
                <a:cs typeface="Cerebri Bold"/>
                <a:sym typeface="Cerebri Bold"/>
              </a:rPr>
              <a:t>AS</a:t>
            </a:r>
            <a:r>
              <a:rPr lang="en-US" b="true" sz="3999" spc="-155">
                <a:solidFill>
                  <a:srgbClr val="000000"/>
                </a:solidFill>
                <a:latin typeface="Cerebri Bold"/>
                <a:ea typeface="Cerebri Bold"/>
                <a:cs typeface="Cerebri Bold"/>
                <a:sym typeface="Cerebri Bold"/>
              </a:rPr>
              <a:t>SIUT ROBOTICS TEAM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8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8282805" y="377984"/>
            <a:ext cx="34853610" cy="11061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585"/>
              </a:lnSpc>
            </a:pPr>
            <a:r>
              <a:rPr lang="en-US" sz="47799" spc="-2389">
                <a:solidFill>
                  <a:srgbClr val="000000">
                    <a:alpha val="19608"/>
                  </a:srgbClr>
                </a:solidFill>
                <a:latin typeface="Norwester"/>
                <a:ea typeface="Norwester"/>
                <a:cs typeface="Norwester"/>
                <a:sym typeface="Norwester"/>
              </a:rPr>
              <a:t>MECHANICAL</a:t>
            </a:r>
          </a:p>
          <a:p>
            <a:pPr algn="ctr">
              <a:lnSpc>
                <a:spcPts val="41585"/>
              </a:lnSpc>
            </a:pPr>
            <a:r>
              <a:rPr lang="en-US" sz="47799" spc="-2389">
                <a:solidFill>
                  <a:srgbClr val="000000">
                    <a:alpha val="19608"/>
                  </a:srgbClr>
                </a:solidFill>
                <a:latin typeface="Norwester"/>
                <a:ea typeface="Norwester"/>
                <a:cs typeface="Norwester"/>
                <a:sym typeface="Norwester"/>
              </a:rPr>
              <a:t>SECTION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167989" y="1284762"/>
            <a:ext cx="13952022" cy="7717477"/>
            <a:chOff x="0" y="0"/>
            <a:chExt cx="3674607" cy="203258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674607" cy="2032586"/>
            </a:xfrm>
            <a:custGeom>
              <a:avLst/>
              <a:gdLst/>
              <a:ahLst/>
              <a:cxnLst/>
              <a:rect r="r" b="b" t="t" l="l"/>
              <a:pathLst>
                <a:path h="2032586" w="3674607">
                  <a:moveTo>
                    <a:pt x="28300" y="0"/>
                  </a:moveTo>
                  <a:lnTo>
                    <a:pt x="3646307" y="0"/>
                  </a:lnTo>
                  <a:cubicBezTo>
                    <a:pt x="3653813" y="0"/>
                    <a:pt x="3661011" y="2982"/>
                    <a:pt x="3666318" y="8289"/>
                  </a:cubicBezTo>
                  <a:cubicBezTo>
                    <a:pt x="3671625" y="13596"/>
                    <a:pt x="3674607" y="20794"/>
                    <a:pt x="3674607" y="28300"/>
                  </a:cubicBezTo>
                  <a:lnTo>
                    <a:pt x="3674607" y="2004287"/>
                  </a:lnTo>
                  <a:cubicBezTo>
                    <a:pt x="3674607" y="2011792"/>
                    <a:pt x="3671625" y="2018990"/>
                    <a:pt x="3666318" y="2024298"/>
                  </a:cubicBezTo>
                  <a:cubicBezTo>
                    <a:pt x="3661011" y="2029605"/>
                    <a:pt x="3653813" y="2032586"/>
                    <a:pt x="3646307" y="2032586"/>
                  </a:cubicBezTo>
                  <a:lnTo>
                    <a:pt x="28300" y="2032586"/>
                  </a:lnTo>
                  <a:cubicBezTo>
                    <a:pt x="20794" y="2032586"/>
                    <a:pt x="13596" y="2029605"/>
                    <a:pt x="8289" y="2024298"/>
                  </a:cubicBezTo>
                  <a:cubicBezTo>
                    <a:pt x="2982" y="2018990"/>
                    <a:pt x="0" y="2011792"/>
                    <a:pt x="0" y="2004287"/>
                  </a:cubicBezTo>
                  <a:lnTo>
                    <a:pt x="0" y="28300"/>
                  </a:lnTo>
                  <a:cubicBezTo>
                    <a:pt x="0" y="20794"/>
                    <a:pt x="2982" y="13596"/>
                    <a:pt x="8289" y="8289"/>
                  </a:cubicBezTo>
                  <a:cubicBezTo>
                    <a:pt x="13596" y="2982"/>
                    <a:pt x="20794" y="0"/>
                    <a:pt x="28300" y="0"/>
                  </a:cubicBezTo>
                  <a:close/>
                </a:path>
              </a:pathLst>
            </a:custGeom>
            <a:solidFill>
              <a:srgbClr val="C7211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674607" cy="20706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842585" y="2559632"/>
            <a:ext cx="12602829" cy="5160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4"/>
              </a:lnSpc>
            </a:pPr>
            <a:r>
              <a:rPr lang="en-US" sz="19804" spc="-990">
                <a:solidFill>
                  <a:srgbClr val="F8F7F6"/>
                </a:solidFill>
                <a:latin typeface="Norwester"/>
                <a:ea typeface="Norwester"/>
                <a:cs typeface="Norwester"/>
                <a:sym typeface="Norwester"/>
              </a:rPr>
              <a:t>2</a:t>
            </a:r>
            <a:r>
              <a:rPr lang="en-US" sz="19804" spc="-990">
                <a:solidFill>
                  <a:srgbClr val="F8F7F6"/>
                </a:solidFill>
                <a:latin typeface="Norwester"/>
                <a:ea typeface="Norwester"/>
                <a:cs typeface="Norwester"/>
                <a:sym typeface="Norwester"/>
              </a:rPr>
              <a:t>.ELECTRICAL</a:t>
            </a:r>
          </a:p>
          <a:p>
            <a:pPr algn="l">
              <a:lnSpc>
                <a:spcPts val="19804"/>
              </a:lnSpc>
            </a:pPr>
            <a:r>
              <a:rPr lang="en-US" sz="19804" spc="-990">
                <a:solidFill>
                  <a:srgbClr val="F8F7F6"/>
                </a:solidFill>
                <a:latin typeface="Norwester"/>
                <a:ea typeface="Norwester"/>
                <a:cs typeface="Norwester"/>
                <a:sym typeface="Norwester"/>
              </a:rPr>
              <a:t>SECTION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55187" y="3209771"/>
            <a:ext cx="18665877" cy="8419053"/>
            <a:chOff x="0" y="0"/>
            <a:chExt cx="4916116" cy="22173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16116" cy="2217364"/>
            </a:xfrm>
            <a:custGeom>
              <a:avLst/>
              <a:gdLst/>
              <a:ahLst/>
              <a:cxnLst/>
              <a:rect r="r" b="b" t="t" l="l"/>
              <a:pathLst>
                <a:path h="2217364" w="4916116">
                  <a:moveTo>
                    <a:pt x="0" y="0"/>
                  </a:moveTo>
                  <a:lnTo>
                    <a:pt x="4916116" y="0"/>
                  </a:lnTo>
                  <a:lnTo>
                    <a:pt x="4916116" y="2217364"/>
                  </a:lnTo>
                  <a:lnTo>
                    <a:pt x="0" y="2217364"/>
                  </a:lnTo>
                  <a:close/>
                </a:path>
              </a:pathLst>
            </a:custGeom>
            <a:solidFill>
              <a:srgbClr val="EB322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16116" cy="22554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4001471" y="-1216322"/>
            <a:ext cx="5519854" cy="4114800"/>
          </a:xfrm>
          <a:custGeom>
            <a:avLst/>
            <a:gdLst/>
            <a:ahLst/>
            <a:cxnLst/>
            <a:rect r="r" b="b" t="t" l="l"/>
            <a:pathLst>
              <a:path h="4114800" w="5519854">
                <a:moveTo>
                  <a:pt x="0" y="0"/>
                </a:moveTo>
                <a:lnTo>
                  <a:pt x="5519853" y="0"/>
                </a:lnTo>
                <a:lnTo>
                  <a:pt x="551985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92415" y="3561493"/>
            <a:ext cx="10323224" cy="6725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4"/>
              </a:lnSpc>
            </a:pPr>
            <a:r>
              <a:rPr lang="en-US" sz="2553" spc="-107" b="true">
                <a:solidFill>
                  <a:srgbClr val="171619"/>
                </a:solidFill>
                <a:latin typeface="Cerebri Bold"/>
                <a:ea typeface="Cerebri Bold"/>
                <a:cs typeface="Cerebri Bold"/>
                <a:sym typeface="Cerebri Bold"/>
              </a:rPr>
              <a:t>Our robot uses a dual-controller architecture consisting of:</a:t>
            </a:r>
          </a:p>
          <a:p>
            <a:pPr algn="l" marL="551205" indent="-275603" lvl="1">
              <a:lnSpc>
                <a:spcPts val="3574"/>
              </a:lnSpc>
              <a:buFont typeface="Arial"/>
              <a:buChar char="•"/>
            </a:pPr>
            <a:r>
              <a:rPr lang="en-US" b="true" sz="2553" spc="-107">
                <a:solidFill>
                  <a:srgbClr val="171619"/>
                </a:solidFill>
                <a:latin typeface="Cerebri Bold"/>
                <a:ea typeface="Cerebri Bold"/>
                <a:cs typeface="Cerebri Bold"/>
                <a:sym typeface="Cerebri Bold"/>
              </a:rPr>
              <a:t>Raspberry Pi 4 (8GB) for high-level processing.</a:t>
            </a:r>
          </a:p>
          <a:p>
            <a:pPr algn="l" marL="551205" indent="-275603" lvl="1">
              <a:lnSpc>
                <a:spcPts val="3574"/>
              </a:lnSpc>
              <a:buFont typeface="Arial"/>
              <a:buChar char="•"/>
            </a:pPr>
            <a:r>
              <a:rPr lang="en-US" b="true" sz="2553" spc="-107">
                <a:solidFill>
                  <a:srgbClr val="171619"/>
                </a:solidFill>
                <a:latin typeface="Cerebri Bold"/>
                <a:ea typeface="Cerebri Bold"/>
                <a:cs typeface="Cerebri Bold"/>
                <a:sym typeface="Cerebri Bold"/>
              </a:rPr>
              <a:t>Arduino Mega for low-level hardware control.</a:t>
            </a:r>
          </a:p>
          <a:p>
            <a:pPr algn="l">
              <a:lnSpc>
                <a:spcPts val="3574"/>
              </a:lnSpc>
            </a:pPr>
            <a:r>
              <a:rPr lang="en-US" sz="2553" spc="-107" b="true">
                <a:solidFill>
                  <a:srgbClr val="171619"/>
                </a:solidFill>
                <a:latin typeface="Cerebri Bold"/>
                <a:ea typeface="Cerebri Bold"/>
                <a:cs typeface="Cerebri Bold"/>
                <a:sym typeface="Cerebri Bold"/>
              </a:rPr>
              <a:t>The Raspberry Pi is responsible for:</a:t>
            </a:r>
          </a:p>
          <a:p>
            <a:pPr algn="l" marL="551205" indent="-275603" lvl="1">
              <a:lnSpc>
                <a:spcPts val="3574"/>
              </a:lnSpc>
              <a:buFont typeface="Arial"/>
              <a:buChar char="•"/>
            </a:pPr>
            <a:r>
              <a:rPr lang="en-US" b="true" sz="2553" spc="-107">
                <a:solidFill>
                  <a:srgbClr val="171619"/>
                </a:solidFill>
                <a:latin typeface="Cerebri Bold"/>
                <a:ea typeface="Cerebri Bold"/>
                <a:cs typeface="Cerebri Bold"/>
                <a:sym typeface="Cerebri Bold"/>
              </a:rPr>
              <a:t>Computer Vision</a:t>
            </a:r>
          </a:p>
          <a:p>
            <a:pPr algn="l" marL="551205" indent="-275603" lvl="1">
              <a:lnSpc>
                <a:spcPts val="3574"/>
              </a:lnSpc>
              <a:buFont typeface="Arial"/>
              <a:buChar char="•"/>
            </a:pPr>
            <a:r>
              <a:rPr lang="en-US" b="true" sz="2553" spc="-107">
                <a:solidFill>
                  <a:srgbClr val="171619"/>
                </a:solidFill>
                <a:latin typeface="Cerebri Bold"/>
                <a:ea typeface="Cerebri Bold"/>
                <a:cs typeface="Cerebri Bold"/>
                <a:sym typeface="Cerebri Bold"/>
              </a:rPr>
              <a:t>Localization</a:t>
            </a:r>
          </a:p>
          <a:p>
            <a:pPr algn="l" marL="551205" indent="-275603" lvl="1">
              <a:lnSpc>
                <a:spcPts val="3574"/>
              </a:lnSpc>
              <a:buFont typeface="Arial"/>
              <a:buChar char="•"/>
            </a:pPr>
            <a:r>
              <a:rPr lang="en-US" b="true" sz="2553" spc="-107">
                <a:solidFill>
                  <a:srgbClr val="171619"/>
                </a:solidFill>
                <a:latin typeface="Cerebri Bold"/>
                <a:ea typeface="Cerebri Bold"/>
                <a:cs typeface="Cerebri Bold"/>
                <a:sym typeface="Cerebri Bold"/>
              </a:rPr>
              <a:t>Mine Mapping</a:t>
            </a:r>
          </a:p>
          <a:p>
            <a:pPr algn="l" marL="551205" indent="-275603" lvl="1">
              <a:lnSpc>
                <a:spcPts val="3574"/>
              </a:lnSpc>
              <a:buFont typeface="Arial"/>
              <a:buChar char="•"/>
            </a:pPr>
            <a:r>
              <a:rPr lang="en-US" b="true" sz="2553" spc="-107">
                <a:solidFill>
                  <a:srgbClr val="171619"/>
                </a:solidFill>
                <a:latin typeface="Cerebri Bold"/>
                <a:ea typeface="Cerebri Bold"/>
                <a:cs typeface="Cerebri Bold"/>
                <a:sym typeface="Cerebri Bold"/>
              </a:rPr>
              <a:t>Running ROS 2</a:t>
            </a:r>
          </a:p>
          <a:p>
            <a:pPr algn="l">
              <a:lnSpc>
                <a:spcPts val="3574"/>
              </a:lnSpc>
            </a:pPr>
            <a:r>
              <a:rPr lang="en-US" sz="2553" spc="-107" b="true">
                <a:solidFill>
                  <a:srgbClr val="171619"/>
                </a:solidFill>
                <a:latin typeface="Cerebri Bold"/>
                <a:ea typeface="Cerebri Bold"/>
                <a:cs typeface="Cerebri Bold"/>
                <a:sym typeface="Cerebri Bold"/>
              </a:rPr>
              <a:t>The Arduino is responsible for:</a:t>
            </a:r>
          </a:p>
          <a:p>
            <a:pPr algn="l" marL="551205" indent="-275603" lvl="1">
              <a:lnSpc>
                <a:spcPts val="3574"/>
              </a:lnSpc>
              <a:buFont typeface="Arial"/>
              <a:buChar char="•"/>
            </a:pPr>
            <a:r>
              <a:rPr lang="en-US" b="true" sz="2553" spc="-107">
                <a:solidFill>
                  <a:srgbClr val="171619"/>
                </a:solidFill>
                <a:latin typeface="Cerebri Bold"/>
                <a:ea typeface="Cerebri Bold"/>
                <a:cs typeface="Cerebri Bold"/>
                <a:sym typeface="Cerebri Bold"/>
              </a:rPr>
              <a:t>Motor Control</a:t>
            </a:r>
          </a:p>
          <a:p>
            <a:pPr algn="l" marL="551205" indent="-275603" lvl="1">
              <a:lnSpc>
                <a:spcPts val="3574"/>
              </a:lnSpc>
              <a:buFont typeface="Arial"/>
              <a:buChar char="•"/>
            </a:pPr>
            <a:r>
              <a:rPr lang="en-US" b="true" sz="2553" spc="-107">
                <a:solidFill>
                  <a:srgbClr val="171619"/>
                </a:solidFill>
                <a:latin typeface="Cerebri Bold"/>
                <a:ea typeface="Cerebri Bold"/>
                <a:cs typeface="Cerebri Bold"/>
                <a:sym typeface="Cerebri Bold"/>
              </a:rPr>
              <a:t>Reading Sensors</a:t>
            </a:r>
          </a:p>
          <a:p>
            <a:pPr algn="l" marL="551205" indent="-275603" lvl="1">
              <a:lnSpc>
                <a:spcPts val="3574"/>
              </a:lnSpc>
              <a:buFont typeface="Arial"/>
              <a:buChar char="•"/>
            </a:pPr>
            <a:r>
              <a:rPr lang="en-US" b="true" sz="2553" spc="-107">
                <a:solidFill>
                  <a:srgbClr val="171619"/>
                </a:solidFill>
                <a:latin typeface="Cerebri Bold"/>
                <a:ea typeface="Cerebri Bold"/>
                <a:cs typeface="Cerebri Bold"/>
                <a:sym typeface="Cerebri Bold"/>
              </a:rPr>
              <a:t>Executing real-time hardware tasks</a:t>
            </a:r>
          </a:p>
          <a:p>
            <a:pPr algn="l">
              <a:lnSpc>
                <a:spcPts val="3574"/>
              </a:lnSpc>
            </a:pPr>
            <a:r>
              <a:rPr lang="en-US" sz="2553" spc="-107" b="true">
                <a:solidFill>
                  <a:srgbClr val="171619"/>
                </a:solidFill>
                <a:latin typeface="Cerebri Bold"/>
                <a:ea typeface="Cerebri Bold"/>
                <a:cs typeface="Cerebri Bold"/>
                <a:sym typeface="Cerebri Bold"/>
              </a:rPr>
              <a:t>Both controllers communicate through Serial Communication, ensuring fast and reliable data exchange between processing and control units.</a:t>
            </a:r>
          </a:p>
          <a:p>
            <a:pPr algn="l">
              <a:lnSpc>
                <a:spcPts val="3574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7980078" y="729692"/>
            <a:ext cx="10980025" cy="2168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86"/>
              </a:lnSpc>
            </a:pPr>
            <a:r>
              <a:rPr lang="en-US" sz="7714" spc="-385">
                <a:solidFill>
                  <a:srgbClr val="000000"/>
                </a:solidFill>
                <a:latin typeface="Norwester"/>
                <a:ea typeface="Norwester"/>
                <a:cs typeface="Norwester"/>
                <a:sym typeface="Norwester"/>
              </a:rPr>
              <a:t>ELEC</a:t>
            </a:r>
            <a:r>
              <a:rPr lang="en-US" sz="7714" spc="-385">
                <a:solidFill>
                  <a:srgbClr val="000000"/>
                </a:solidFill>
                <a:latin typeface="Norwester"/>
                <a:ea typeface="Norwester"/>
                <a:cs typeface="Norwester"/>
                <a:sym typeface="Norwester"/>
              </a:rPr>
              <a:t>TRICAL SYSTEM OVERVIEW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2759927" y="-2519354"/>
            <a:ext cx="5519854" cy="4114800"/>
          </a:xfrm>
          <a:custGeom>
            <a:avLst/>
            <a:gdLst/>
            <a:ahLst/>
            <a:cxnLst/>
            <a:rect r="r" b="b" t="t" l="l"/>
            <a:pathLst>
              <a:path h="4114800" w="5519854">
                <a:moveTo>
                  <a:pt x="0" y="0"/>
                </a:moveTo>
                <a:lnTo>
                  <a:pt x="5519854" y="0"/>
                </a:lnTo>
                <a:lnTo>
                  <a:pt x="551985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411393" y="8881116"/>
            <a:ext cx="5519854" cy="4114800"/>
          </a:xfrm>
          <a:custGeom>
            <a:avLst/>
            <a:gdLst/>
            <a:ahLst/>
            <a:cxnLst/>
            <a:rect r="r" b="b" t="t" l="l"/>
            <a:pathLst>
              <a:path h="4114800" w="5519854">
                <a:moveTo>
                  <a:pt x="0" y="0"/>
                </a:moveTo>
                <a:lnTo>
                  <a:pt x="5519854" y="0"/>
                </a:lnTo>
                <a:lnTo>
                  <a:pt x="551985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652937" y="7578084"/>
            <a:ext cx="5519854" cy="4114800"/>
          </a:xfrm>
          <a:custGeom>
            <a:avLst/>
            <a:gdLst/>
            <a:ahLst/>
            <a:cxnLst/>
            <a:rect r="r" b="b" t="t" l="l"/>
            <a:pathLst>
              <a:path h="4114800" w="5519854">
                <a:moveTo>
                  <a:pt x="0" y="0"/>
                </a:moveTo>
                <a:lnTo>
                  <a:pt x="5519854" y="0"/>
                </a:lnTo>
                <a:lnTo>
                  <a:pt x="551985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8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959186" y="-382340"/>
            <a:ext cx="19887937" cy="10980966"/>
            <a:chOff x="0" y="0"/>
            <a:chExt cx="5237975" cy="28921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37975" cy="2892106"/>
            </a:xfrm>
            <a:custGeom>
              <a:avLst/>
              <a:gdLst/>
              <a:ahLst/>
              <a:cxnLst/>
              <a:rect r="r" b="b" t="t" l="l"/>
              <a:pathLst>
                <a:path h="2892106" w="5237975">
                  <a:moveTo>
                    <a:pt x="0" y="0"/>
                  </a:moveTo>
                  <a:lnTo>
                    <a:pt x="5237975" y="0"/>
                  </a:lnTo>
                  <a:lnTo>
                    <a:pt x="5237975" y="2892106"/>
                  </a:lnTo>
                  <a:lnTo>
                    <a:pt x="0" y="289210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237975" cy="29302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48472" y="1165068"/>
            <a:ext cx="7178108" cy="8388507"/>
            <a:chOff x="0" y="0"/>
            <a:chExt cx="1890531" cy="22093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90531" cy="2209319"/>
            </a:xfrm>
            <a:custGeom>
              <a:avLst/>
              <a:gdLst/>
              <a:ahLst/>
              <a:cxnLst/>
              <a:rect r="r" b="b" t="t" l="l"/>
              <a:pathLst>
                <a:path h="2209319" w="1890531">
                  <a:moveTo>
                    <a:pt x="0" y="0"/>
                  </a:moveTo>
                  <a:lnTo>
                    <a:pt x="1890531" y="0"/>
                  </a:lnTo>
                  <a:lnTo>
                    <a:pt x="1890531" y="2209319"/>
                  </a:lnTo>
                  <a:lnTo>
                    <a:pt x="0" y="2209319"/>
                  </a:lnTo>
                  <a:close/>
                </a:path>
              </a:pathLst>
            </a:custGeom>
            <a:solidFill>
              <a:srgbClr val="F8F7F6"/>
            </a:solidFill>
            <a:ln w="19050" cap="sq">
              <a:solidFill>
                <a:srgbClr val="004632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890531" cy="22474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7765304" y="3682457"/>
            <a:ext cx="11345624" cy="2937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26"/>
              </a:lnSpc>
            </a:pPr>
            <a:r>
              <a:rPr lang="en-US" sz="10387" spc="-519">
                <a:solidFill>
                  <a:srgbClr val="000000"/>
                </a:solidFill>
                <a:latin typeface="Norwester"/>
                <a:ea typeface="Norwester"/>
                <a:cs typeface="Norwester"/>
                <a:sym typeface="Norwester"/>
              </a:rPr>
              <a:t>MAIN EL</a:t>
            </a:r>
            <a:r>
              <a:rPr lang="en-US" sz="10387" spc="-519">
                <a:solidFill>
                  <a:srgbClr val="000000"/>
                </a:solidFill>
                <a:latin typeface="Norwester"/>
                <a:ea typeface="Norwester"/>
                <a:cs typeface="Norwester"/>
                <a:sym typeface="Norwester"/>
              </a:rPr>
              <a:t>ECTRONIC COMPONENTS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971550"/>
            <a:ext cx="6300035" cy="8857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1"/>
              </a:lnSpc>
            </a:pPr>
          </a:p>
          <a:p>
            <a:pPr algn="l" marL="573901" indent="-286951" lvl="1">
              <a:lnSpc>
                <a:spcPts val="3721"/>
              </a:lnSpc>
              <a:buFont typeface="Arial"/>
              <a:buChar char="•"/>
            </a:pPr>
            <a:r>
              <a:rPr lang="en-US" b="true" sz="2658" spc="-111">
                <a:solidFill>
                  <a:srgbClr val="E7432E"/>
                </a:solidFill>
                <a:latin typeface="Cerebri Bold"/>
                <a:ea typeface="Cerebri Bold"/>
                <a:cs typeface="Cerebri Bold"/>
                <a:sym typeface="Cerebri Bold"/>
              </a:rPr>
              <a:t>Hardwar</a:t>
            </a:r>
            <a:r>
              <a:rPr lang="en-US" b="true" sz="2658" spc="-111">
                <a:solidFill>
                  <a:srgbClr val="E7432E"/>
                </a:solidFill>
                <a:latin typeface="Cerebri Bold"/>
                <a:ea typeface="Cerebri Bold"/>
                <a:cs typeface="Cerebri Bold"/>
                <a:sym typeface="Cerebri Bold"/>
              </a:rPr>
              <a:t>e Components</a:t>
            </a:r>
          </a:p>
          <a:p>
            <a:pPr algn="l" marL="573901" indent="-286951" lvl="1">
              <a:lnSpc>
                <a:spcPts val="3721"/>
              </a:lnSpc>
              <a:buFont typeface="Arial"/>
              <a:buChar char="•"/>
            </a:pPr>
            <a:r>
              <a:rPr lang="en-US" b="true" sz="2658" spc="-111">
                <a:solidFill>
                  <a:srgbClr val="E7432E"/>
                </a:solidFill>
                <a:latin typeface="Cerebri Bold"/>
                <a:ea typeface="Cerebri Bold"/>
                <a:cs typeface="Cerebri Bold"/>
                <a:sym typeface="Cerebri Bold"/>
              </a:rPr>
              <a:t>The robot contains several electronic components working together:</a:t>
            </a:r>
          </a:p>
          <a:p>
            <a:pPr algn="l" marL="573901" indent="-286951" lvl="1">
              <a:lnSpc>
                <a:spcPts val="3721"/>
              </a:lnSpc>
              <a:buFont typeface="Arial"/>
              <a:buChar char="•"/>
            </a:pPr>
            <a:r>
              <a:rPr lang="en-US" b="true" sz="2658" spc="-111">
                <a:solidFill>
                  <a:srgbClr val="E7432E"/>
                </a:solidFill>
                <a:latin typeface="Cerebri Bold"/>
                <a:ea typeface="Cerebri Bold"/>
                <a:cs typeface="Cerebri Bold"/>
                <a:sym typeface="Cerebri Bold"/>
              </a:rPr>
              <a:t>Raspberry Pi 4</a:t>
            </a:r>
          </a:p>
          <a:p>
            <a:pPr algn="l" marL="573901" indent="-286951" lvl="1">
              <a:lnSpc>
                <a:spcPts val="3721"/>
              </a:lnSpc>
              <a:buFont typeface="Arial"/>
              <a:buChar char="•"/>
            </a:pPr>
            <a:r>
              <a:rPr lang="en-US" b="true" sz="2658" spc="-111">
                <a:solidFill>
                  <a:srgbClr val="E7432E"/>
                </a:solidFill>
                <a:latin typeface="Cerebri Bold"/>
                <a:ea typeface="Cerebri Bold"/>
                <a:cs typeface="Cerebri Bold"/>
                <a:sym typeface="Cerebri Bold"/>
              </a:rPr>
              <a:t>Arduino Mega</a:t>
            </a:r>
          </a:p>
          <a:p>
            <a:pPr algn="l" marL="573901" indent="-286951" lvl="1">
              <a:lnSpc>
                <a:spcPts val="3721"/>
              </a:lnSpc>
              <a:buFont typeface="Arial"/>
              <a:buChar char="•"/>
            </a:pPr>
            <a:r>
              <a:rPr lang="en-US" b="true" sz="2658" spc="-111">
                <a:solidFill>
                  <a:srgbClr val="E7432E"/>
                </a:solidFill>
                <a:latin typeface="Cerebri Bold"/>
                <a:ea typeface="Cerebri Bold"/>
                <a:cs typeface="Cerebri Bold"/>
                <a:sym typeface="Cerebri Bold"/>
              </a:rPr>
              <a:t>DC Motors</a:t>
            </a:r>
          </a:p>
          <a:p>
            <a:pPr algn="l" marL="573901" indent="-286951" lvl="1">
              <a:lnSpc>
                <a:spcPts val="3721"/>
              </a:lnSpc>
              <a:buFont typeface="Arial"/>
              <a:buChar char="•"/>
            </a:pPr>
            <a:r>
              <a:rPr lang="en-US" b="true" sz="2658" spc="-111">
                <a:solidFill>
                  <a:srgbClr val="E7432E"/>
                </a:solidFill>
                <a:latin typeface="Cerebri Bold"/>
                <a:ea typeface="Cerebri Bold"/>
                <a:cs typeface="Cerebri Bold"/>
                <a:sym typeface="Cerebri Bold"/>
              </a:rPr>
              <a:t>Motor Drivers</a:t>
            </a:r>
          </a:p>
          <a:p>
            <a:pPr algn="l" marL="573901" indent="-286951" lvl="1">
              <a:lnSpc>
                <a:spcPts val="3721"/>
              </a:lnSpc>
              <a:buFont typeface="Arial"/>
              <a:buChar char="•"/>
            </a:pPr>
            <a:r>
              <a:rPr lang="en-US" b="true" sz="2658" spc="-111">
                <a:solidFill>
                  <a:srgbClr val="E7432E"/>
                </a:solidFill>
                <a:latin typeface="Cerebri Bold"/>
                <a:ea typeface="Cerebri Bold"/>
                <a:cs typeface="Cerebri Bold"/>
                <a:sym typeface="Cerebri Bold"/>
              </a:rPr>
              <a:t>Wheel Encoders</a:t>
            </a:r>
          </a:p>
          <a:p>
            <a:pPr algn="l" marL="573901" indent="-286951" lvl="1">
              <a:lnSpc>
                <a:spcPts val="3721"/>
              </a:lnSpc>
              <a:buFont typeface="Arial"/>
              <a:buChar char="•"/>
            </a:pPr>
            <a:r>
              <a:rPr lang="en-US" b="true" sz="2658" spc="-111">
                <a:solidFill>
                  <a:srgbClr val="E7432E"/>
                </a:solidFill>
                <a:latin typeface="Cerebri Bold"/>
                <a:ea typeface="Cerebri Bold"/>
                <a:cs typeface="Cerebri Bold"/>
                <a:sym typeface="Cerebri Bold"/>
              </a:rPr>
              <a:t>IMU Sensor</a:t>
            </a:r>
          </a:p>
          <a:p>
            <a:pPr algn="l" marL="573901" indent="-286951" lvl="1">
              <a:lnSpc>
                <a:spcPts val="3721"/>
              </a:lnSpc>
              <a:buFont typeface="Arial"/>
              <a:buChar char="•"/>
            </a:pPr>
            <a:r>
              <a:rPr lang="en-US" b="true" sz="2658" spc="-111">
                <a:solidFill>
                  <a:srgbClr val="E7432E"/>
                </a:solidFill>
                <a:latin typeface="Cerebri Bold"/>
                <a:ea typeface="Cerebri Bold"/>
                <a:cs typeface="Cerebri Bold"/>
                <a:sym typeface="Cerebri Bold"/>
              </a:rPr>
              <a:t>Metal </a:t>
            </a:r>
            <a:r>
              <a:rPr lang="en-US" b="true" sz="2658" spc="-111">
                <a:solidFill>
                  <a:srgbClr val="E7432E"/>
                </a:solidFill>
                <a:latin typeface="Cerebri Bold"/>
                <a:ea typeface="Cerebri Bold"/>
                <a:cs typeface="Cerebri Bold"/>
                <a:sym typeface="Cerebri Bold"/>
              </a:rPr>
              <a:t>Detector Circuit</a:t>
            </a:r>
          </a:p>
          <a:p>
            <a:pPr algn="l" marL="573901" indent="-286951" lvl="1">
              <a:lnSpc>
                <a:spcPts val="3721"/>
              </a:lnSpc>
              <a:buFont typeface="Arial"/>
              <a:buChar char="•"/>
            </a:pPr>
            <a:r>
              <a:rPr lang="en-US" b="true" sz="2658" spc="-111">
                <a:solidFill>
                  <a:srgbClr val="E7432E"/>
                </a:solidFill>
                <a:latin typeface="Cerebri Bold"/>
                <a:ea typeface="Cerebri Bold"/>
                <a:cs typeface="Cerebri Bold"/>
                <a:sym typeface="Cerebri Bold"/>
              </a:rPr>
              <a:t>Proximity Sensors</a:t>
            </a:r>
          </a:p>
          <a:p>
            <a:pPr algn="l" marL="573901" indent="-286951" lvl="1">
              <a:lnSpc>
                <a:spcPts val="3721"/>
              </a:lnSpc>
              <a:buFont typeface="Arial"/>
              <a:buChar char="•"/>
            </a:pPr>
            <a:r>
              <a:rPr lang="en-US" b="true" sz="2658" spc="-111">
                <a:solidFill>
                  <a:srgbClr val="E7432E"/>
                </a:solidFill>
                <a:latin typeface="Cerebri Bold"/>
                <a:ea typeface="Cerebri Bold"/>
                <a:cs typeface="Cerebri Bold"/>
                <a:sym typeface="Cerebri Bold"/>
              </a:rPr>
              <a:t>HD </a:t>
            </a:r>
            <a:r>
              <a:rPr lang="en-US" b="true" sz="2658" spc="-111">
                <a:solidFill>
                  <a:srgbClr val="E7432E"/>
                </a:solidFill>
                <a:latin typeface="Cerebri Bold"/>
                <a:ea typeface="Cerebri Bold"/>
                <a:cs typeface="Cerebri Bold"/>
                <a:sym typeface="Cerebri Bold"/>
              </a:rPr>
              <a:t>Camera</a:t>
            </a:r>
          </a:p>
          <a:p>
            <a:pPr algn="l" marL="573901" indent="-286951" lvl="1">
              <a:lnSpc>
                <a:spcPts val="3721"/>
              </a:lnSpc>
              <a:buFont typeface="Arial"/>
              <a:buChar char="•"/>
            </a:pPr>
            <a:r>
              <a:rPr lang="en-US" b="true" sz="2658" spc="-111">
                <a:solidFill>
                  <a:srgbClr val="E7432E"/>
                </a:solidFill>
                <a:latin typeface="Cerebri Bold"/>
                <a:ea typeface="Cerebri Bold"/>
                <a:cs typeface="Cerebri Bold"/>
                <a:sym typeface="Cerebri Bold"/>
              </a:rPr>
              <a:t>Warning LED</a:t>
            </a:r>
          </a:p>
          <a:p>
            <a:pPr algn="l" marL="573901" indent="-286951" lvl="1">
              <a:lnSpc>
                <a:spcPts val="3721"/>
              </a:lnSpc>
              <a:buFont typeface="Arial"/>
              <a:buChar char="•"/>
            </a:pPr>
            <a:r>
              <a:rPr lang="en-US" b="true" sz="2658" spc="-111">
                <a:solidFill>
                  <a:srgbClr val="E7432E"/>
                </a:solidFill>
                <a:latin typeface="Cerebri Bold"/>
                <a:ea typeface="Cerebri Bold"/>
                <a:cs typeface="Cerebri Bold"/>
                <a:sym typeface="Cerebri Bold"/>
              </a:rPr>
              <a:t>Buzzer</a:t>
            </a:r>
          </a:p>
          <a:p>
            <a:pPr algn="l" marL="573901" indent="-286951" lvl="1">
              <a:lnSpc>
                <a:spcPts val="3721"/>
              </a:lnSpc>
              <a:buFont typeface="Arial"/>
              <a:buChar char="•"/>
            </a:pPr>
            <a:r>
              <a:rPr lang="en-US" b="true" sz="2658" spc="-111">
                <a:solidFill>
                  <a:srgbClr val="E7432E"/>
                </a:solidFill>
                <a:latin typeface="Cerebri Bold"/>
                <a:ea typeface="Cerebri Bold"/>
                <a:cs typeface="Cerebri Bold"/>
                <a:sym typeface="Cerebri Bold"/>
              </a:rPr>
              <a:t>Each component has a specific role that contributes to autonomous navigation and mine detection.</a:t>
            </a:r>
          </a:p>
          <a:p>
            <a:pPr algn="l">
              <a:lnSpc>
                <a:spcPts val="3721"/>
              </a:lnSpc>
            </a:pPr>
          </a:p>
        </p:txBody>
      </p:sp>
    </p:spTree>
  </p:cSld>
  <p:clrMapOvr>
    <a:masterClrMapping/>
  </p:clrMapOvr>
  <p:transition spd="fast">
    <p:wipe dir="l"/>
  </p:transition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8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77263" y="0"/>
            <a:ext cx="9910737" cy="10811829"/>
            <a:chOff x="0" y="0"/>
            <a:chExt cx="2610235" cy="28475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10235" cy="2847560"/>
            </a:xfrm>
            <a:custGeom>
              <a:avLst/>
              <a:gdLst/>
              <a:ahLst/>
              <a:cxnLst/>
              <a:rect r="r" b="b" t="t" l="l"/>
              <a:pathLst>
                <a:path h="2847560" w="2610235">
                  <a:moveTo>
                    <a:pt x="0" y="0"/>
                  </a:moveTo>
                  <a:lnTo>
                    <a:pt x="2610235" y="0"/>
                  </a:lnTo>
                  <a:lnTo>
                    <a:pt x="2610235" y="2847560"/>
                  </a:lnTo>
                  <a:lnTo>
                    <a:pt x="0" y="28475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610235" cy="28856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0651" y="1291115"/>
            <a:ext cx="7553986" cy="8229600"/>
            <a:chOff x="0" y="0"/>
            <a:chExt cx="2529905" cy="27561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29905" cy="2756175"/>
            </a:xfrm>
            <a:custGeom>
              <a:avLst/>
              <a:gdLst/>
              <a:ahLst/>
              <a:cxnLst/>
              <a:rect r="r" b="b" t="t" l="l"/>
              <a:pathLst>
                <a:path h="2756175" w="2529905">
                  <a:moveTo>
                    <a:pt x="0" y="0"/>
                  </a:moveTo>
                  <a:lnTo>
                    <a:pt x="2529905" y="0"/>
                  </a:lnTo>
                  <a:lnTo>
                    <a:pt x="2529905" y="2756175"/>
                  </a:lnTo>
                  <a:lnTo>
                    <a:pt x="0" y="2756175"/>
                  </a:lnTo>
                  <a:close/>
                </a:path>
              </a:pathLst>
            </a:custGeom>
            <a:solidFill>
              <a:srgbClr val="D8D8D8"/>
            </a:solidFill>
            <a:ln w="19050" cap="sq">
              <a:solidFill>
                <a:srgbClr val="004632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47625"/>
              <a:ext cx="2529905" cy="2708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13062" y="1934226"/>
            <a:ext cx="7034737" cy="325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49"/>
              </a:lnSpc>
            </a:pPr>
            <a:r>
              <a:rPr lang="en-US" sz="11499" spc="-574">
                <a:solidFill>
                  <a:srgbClr val="000000"/>
                </a:solidFill>
                <a:latin typeface="Norwester"/>
                <a:ea typeface="Norwester"/>
                <a:cs typeface="Norwester"/>
                <a:sym typeface="Norwester"/>
              </a:rPr>
              <a:t>S</a:t>
            </a:r>
            <a:r>
              <a:rPr lang="en-US" sz="11499" spc="-574">
                <a:solidFill>
                  <a:srgbClr val="000000"/>
                </a:solidFill>
                <a:latin typeface="Norwester"/>
                <a:ea typeface="Norwester"/>
                <a:cs typeface="Norwester"/>
                <a:sym typeface="Norwester"/>
              </a:rPr>
              <a:t>ENSORS AND CONTROL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615894" y="1752556"/>
            <a:ext cx="6666750" cy="7799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3"/>
              </a:lnSpc>
              <a:spcBef>
                <a:spcPct val="0"/>
              </a:spcBef>
            </a:pPr>
            <a:r>
              <a:rPr lang="en-US" sz="2609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Sensors Integration</a:t>
            </a:r>
          </a:p>
          <a:p>
            <a:pPr algn="l">
              <a:lnSpc>
                <a:spcPts val="3653"/>
              </a:lnSpc>
              <a:spcBef>
                <a:spcPct val="0"/>
              </a:spcBef>
            </a:pPr>
            <a:r>
              <a:rPr lang="en-US" sz="2609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The electrical system combines multiple sensors to improve robot performance.</a:t>
            </a:r>
          </a:p>
          <a:p>
            <a:pPr algn="l" marL="563483" indent="-281741" lvl="1">
              <a:lnSpc>
                <a:spcPts val="3653"/>
              </a:lnSpc>
              <a:spcBef>
                <a:spcPct val="0"/>
              </a:spcBef>
              <a:buFont typeface="Arial"/>
              <a:buChar char="•"/>
            </a:pPr>
            <a:r>
              <a:rPr lang="en-US" sz="2609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Wheel Encoders measure traveled distance.</a:t>
            </a:r>
          </a:p>
          <a:p>
            <a:pPr algn="l" marL="563483" indent="-281741" lvl="1">
              <a:lnSpc>
                <a:spcPts val="3653"/>
              </a:lnSpc>
              <a:spcBef>
                <a:spcPct val="0"/>
              </a:spcBef>
              <a:buFont typeface="Arial"/>
              <a:buChar char="•"/>
            </a:pPr>
            <a:r>
              <a:rPr lang="en-US" sz="2609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IMU provides robot orientation and heading.</a:t>
            </a:r>
          </a:p>
          <a:p>
            <a:pPr algn="l" marL="563483" indent="-281741" lvl="1">
              <a:lnSpc>
                <a:spcPts val="3653"/>
              </a:lnSpc>
              <a:spcBef>
                <a:spcPct val="0"/>
              </a:spcBef>
              <a:buFont typeface="Arial"/>
              <a:buChar char="•"/>
            </a:pPr>
            <a:r>
              <a:rPr lang="en-US" sz="2609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Metal Detector identifies buried mines.</a:t>
            </a:r>
          </a:p>
          <a:p>
            <a:pPr algn="l" marL="563483" indent="-281741" lvl="1">
              <a:lnSpc>
                <a:spcPts val="3653"/>
              </a:lnSpc>
              <a:spcBef>
                <a:spcPct val="0"/>
              </a:spcBef>
              <a:buFont typeface="Arial"/>
              <a:buChar char="•"/>
            </a:pPr>
            <a:r>
              <a:rPr lang="en-US" sz="2609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Proximity Sensors detect surface mines.</a:t>
            </a:r>
          </a:p>
          <a:p>
            <a:pPr algn="l" marL="563483" indent="-281741" lvl="1">
              <a:lnSpc>
                <a:spcPts val="3653"/>
              </a:lnSpc>
              <a:spcBef>
                <a:spcPct val="0"/>
              </a:spcBef>
              <a:buFont typeface="Arial"/>
              <a:buChar char="•"/>
            </a:pPr>
            <a:r>
              <a:rPr lang="en-US" sz="2609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HD Camera recognizes arena coordinates.</a:t>
            </a:r>
          </a:p>
          <a:p>
            <a:pPr algn="l">
              <a:lnSpc>
                <a:spcPts val="3653"/>
              </a:lnSpc>
              <a:spcBef>
                <a:spcPct val="0"/>
              </a:spcBef>
            </a:pPr>
            <a:r>
              <a:rPr lang="en-US" sz="2609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Whenever a mine is detected:</a:t>
            </a:r>
          </a:p>
          <a:p>
            <a:pPr algn="l" marL="563483" indent="-281741" lvl="1">
              <a:lnSpc>
                <a:spcPts val="3653"/>
              </a:lnSpc>
              <a:spcBef>
                <a:spcPct val="0"/>
              </a:spcBef>
              <a:buFont typeface="Arial"/>
              <a:buChar char="•"/>
            </a:pPr>
            <a:r>
              <a:rPr lang="en-US" sz="2609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Warning LED turns ON.</a:t>
            </a:r>
          </a:p>
          <a:p>
            <a:pPr algn="l" marL="563483" indent="-281741" lvl="1">
              <a:lnSpc>
                <a:spcPts val="3653"/>
              </a:lnSpc>
              <a:spcBef>
                <a:spcPct val="0"/>
              </a:spcBef>
              <a:buFont typeface="Arial"/>
              <a:buChar char="•"/>
            </a:pPr>
            <a:r>
              <a:rPr lang="en-US" sz="2609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Buzzer sounds automatically.</a:t>
            </a:r>
          </a:p>
          <a:p>
            <a:pPr algn="l" marL="563483" indent="-281741" lvl="1">
              <a:lnSpc>
                <a:spcPts val="3653"/>
              </a:lnSpc>
              <a:spcBef>
                <a:spcPct val="0"/>
              </a:spcBef>
              <a:buFont typeface="Arial"/>
              <a:buChar char="•"/>
            </a:pPr>
            <a:r>
              <a:rPr lang="en-US" sz="2609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Detection data is sent to the controller for processing</a:t>
            </a:r>
          </a:p>
          <a:p>
            <a:pPr algn="r" rtl="true">
              <a:lnSpc>
                <a:spcPts val="3653"/>
              </a:lnSpc>
              <a:spcBef>
                <a:spcPct val="0"/>
              </a:spcBef>
            </a:pPr>
            <a:r>
              <a:rPr lang="ar-EG" sz="2609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  <a:rtl val="true"/>
              </a:rPr>
              <a:t>ر</a:t>
            </a:r>
          </a:p>
        </p:txBody>
      </p:sp>
    </p:spTree>
  </p:cSld>
  <p:clrMapOvr>
    <a:masterClrMapping/>
  </p:clrMapOvr>
  <p:transition spd="fast">
    <p:wipe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1865" y="3691452"/>
            <a:ext cx="4876826" cy="1764587"/>
            <a:chOff x="0" y="0"/>
            <a:chExt cx="745329" cy="2696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5329" cy="269683"/>
            </a:xfrm>
            <a:custGeom>
              <a:avLst/>
              <a:gdLst/>
              <a:ahLst/>
              <a:cxnLst/>
              <a:rect r="r" b="b" t="t" l="l"/>
              <a:pathLst>
                <a:path h="269683" w="745329">
                  <a:moveTo>
                    <a:pt x="0" y="0"/>
                  </a:moveTo>
                  <a:lnTo>
                    <a:pt x="745329" y="0"/>
                  </a:lnTo>
                  <a:lnTo>
                    <a:pt x="745329" y="269683"/>
                  </a:lnTo>
                  <a:lnTo>
                    <a:pt x="0" y="269683"/>
                  </a:lnTo>
                  <a:close/>
                </a:path>
              </a:pathLst>
            </a:custGeom>
            <a:ln w="19050" cap="sq">
              <a:solidFill>
                <a:srgbClr val="BDD0A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45329" cy="307783"/>
            </a:xfrm>
            <a:prstGeom prst="rect">
              <a:avLst/>
            </a:prstGeom>
          </p:spPr>
          <p:txBody>
            <a:bodyPr anchor="ctr" rtlCol="false" tIns="87544" lIns="87544" bIns="87544" rIns="87544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80916" y="2727637"/>
            <a:ext cx="8385646" cy="668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8"/>
              </a:lnSpc>
            </a:pPr>
            <a:r>
              <a:rPr lang="en-US" sz="2240" spc="-94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TO SIMPLIFY WIRING AND IMPROVE MAINTENANCE, THE ELECTRONICS ARE DIVIDED INTO THREE CUSTOM PCB MODULES.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57200" y="1974468"/>
            <a:ext cx="8768461" cy="487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1"/>
              </a:lnSpc>
            </a:pPr>
            <a:r>
              <a:rPr lang="en-US" sz="2993" spc="-116" b="true">
                <a:solidFill>
                  <a:srgbClr val="000000"/>
                </a:solidFill>
                <a:latin typeface="Cerebri Bold"/>
                <a:ea typeface="Cerebri Bold"/>
                <a:cs typeface="Cerebri Bold"/>
                <a:sym typeface="Cerebri Bold"/>
              </a:rPr>
              <a:t>Custom PCB Design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481865" y="5666987"/>
            <a:ext cx="4882441" cy="2011395"/>
            <a:chOff x="0" y="0"/>
            <a:chExt cx="6509921" cy="2681861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6509921" cy="2389881"/>
              <a:chOff x="0" y="0"/>
              <a:chExt cx="1285910" cy="472075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285910" cy="472075"/>
              </a:xfrm>
              <a:custGeom>
                <a:avLst/>
                <a:gdLst/>
                <a:ahLst/>
                <a:cxnLst/>
                <a:rect r="r" b="b" t="t" l="l"/>
                <a:pathLst>
                  <a:path h="472075" w="1285910">
                    <a:moveTo>
                      <a:pt x="0" y="0"/>
                    </a:moveTo>
                    <a:lnTo>
                      <a:pt x="1285910" y="0"/>
                    </a:lnTo>
                    <a:lnTo>
                      <a:pt x="1285910" y="472075"/>
                    </a:lnTo>
                    <a:lnTo>
                      <a:pt x="0" y="472075"/>
                    </a:lnTo>
                    <a:close/>
                  </a:path>
                </a:pathLst>
              </a:custGeom>
              <a:ln w="19050" cap="sq">
                <a:solidFill>
                  <a:srgbClr val="BDD0A0"/>
                </a:solidFill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1285910" cy="5101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259898" y="81536"/>
              <a:ext cx="5995549" cy="2600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9"/>
                </a:lnSpc>
              </a:pPr>
              <a:r>
                <a:rPr lang="en-US" b="true" sz="2199" spc="-92">
                  <a:solidFill>
                    <a:srgbClr val="000000"/>
                  </a:solidFill>
                  <a:latin typeface="Cerebri Bold"/>
                  <a:ea typeface="Cerebri Bold"/>
                  <a:cs typeface="Cerebri Bold"/>
                  <a:sym typeface="Cerebri Bold"/>
                </a:rPr>
                <a:t>2.LIFT M</a:t>
              </a:r>
              <a:r>
                <a:rPr lang="en-US" b="true" sz="2199" spc="-92">
                  <a:solidFill>
                    <a:srgbClr val="000000"/>
                  </a:solidFill>
                  <a:latin typeface="Cerebri Bold"/>
                  <a:ea typeface="Cerebri Bold"/>
                  <a:cs typeface="Cerebri Bold"/>
                  <a:sym typeface="Cerebri Bold"/>
                </a:rPr>
                <a:t>ECHANISM MODULE</a:t>
              </a:r>
            </a:p>
            <a:p>
              <a:pPr algn="l">
                <a:lnSpc>
                  <a:spcPts val="2639"/>
                </a:lnSpc>
              </a:pPr>
              <a:r>
                <a:rPr lang="en-US" b="true" sz="2199" spc="-92">
                  <a:solidFill>
                    <a:srgbClr val="000000"/>
                  </a:solidFill>
                  <a:latin typeface="Cerebri Bold"/>
                  <a:ea typeface="Cerebri Bold"/>
                  <a:cs typeface="Cerebri Bold"/>
                  <a:sym typeface="Cerebri Bold"/>
                </a:rPr>
                <a:t>CONTROLS:</a:t>
              </a:r>
            </a:p>
            <a:p>
              <a:pPr algn="l" marL="431801" indent="-215900" lvl="1">
                <a:lnSpc>
                  <a:spcPts val="2400"/>
                </a:lnSpc>
                <a:buFont typeface="Arial"/>
                <a:buChar char="•"/>
              </a:pPr>
              <a:r>
                <a:rPr lang="en-US" sz="2000" spc="-84">
                  <a:solidFill>
                    <a:srgbClr val="000000"/>
                  </a:solidFill>
                  <a:latin typeface="Cerebri"/>
                  <a:ea typeface="Cerebri"/>
                  <a:cs typeface="Cerebri"/>
                  <a:sym typeface="Cerebri"/>
                </a:rPr>
                <a:t>ELECTROM</a:t>
              </a:r>
              <a:r>
                <a:rPr lang="en-US" sz="2000" spc="-84">
                  <a:solidFill>
                    <a:srgbClr val="000000"/>
                  </a:solidFill>
                  <a:latin typeface="Cerebri"/>
                  <a:ea typeface="Cerebri"/>
                  <a:cs typeface="Cerebri"/>
                  <a:sym typeface="Cerebri"/>
                </a:rPr>
                <a:t>agnets</a:t>
              </a:r>
            </a:p>
            <a:p>
              <a:pPr algn="l" marL="431801" indent="-215900" lvl="1">
                <a:lnSpc>
                  <a:spcPts val="2400"/>
                </a:lnSpc>
                <a:buFont typeface="Arial"/>
                <a:buChar char="•"/>
              </a:pPr>
              <a:r>
                <a:rPr lang="en-US" sz="2000" spc="-84">
                  <a:solidFill>
                    <a:srgbClr val="000000"/>
                  </a:solidFill>
                  <a:latin typeface="Cerebri"/>
                  <a:ea typeface="Cerebri"/>
                  <a:cs typeface="Cerebri"/>
                  <a:sym typeface="Cerebri"/>
                </a:rPr>
                <a:t>DC Motor</a:t>
              </a:r>
            </a:p>
            <a:p>
              <a:pPr algn="l" marL="431801" indent="-215900" lvl="1">
                <a:lnSpc>
                  <a:spcPts val="2400"/>
                </a:lnSpc>
                <a:buFont typeface="Arial"/>
                <a:buChar char="•"/>
              </a:pPr>
              <a:r>
                <a:rPr lang="en-US" sz="2000" spc="-84">
                  <a:solidFill>
                    <a:srgbClr val="000000"/>
                  </a:solidFill>
                  <a:latin typeface="Cerebri"/>
                  <a:ea typeface="Cerebri"/>
                  <a:cs typeface="Cerebri"/>
                  <a:sym typeface="Cerebri"/>
                </a:rPr>
                <a:t>Limit Switches</a:t>
              </a:r>
            </a:p>
            <a:p>
              <a:pPr algn="l">
                <a:lnSpc>
                  <a:spcPts val="28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57200" y="7678383"/>
            <a:ext cx="10922230" cy="2430076"/>
            <a:chOff x="0" y="0"/>
            <a:chExt cx="2876637" cy="6400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76637" cy="640020"/>
            </a:xfrm>
            <a:custGeom>
              <a:avLst/>
              <a:gdLst/>
              <a:ahLst/>
              <a:cxnLst/>
              <a:rect r="r" b="b" t="t" l="l"/>
              <a:pathLst>
                <a:path h="640020" w="2876637">
                  <a:moveTo>
                    <a:pt x="0" y="0"/>
                  </a:moveTo>
                  <a:lnTo>
                    <a:pt x="2876637" y="0"/>
                  </a:lnTo>
                  <a:lnTo>
                    <a:pt x="2876637" y="640020"/>
                  </a:lnTo>
                  <a:lnTo>
                    <a:pt x="0" y="640020"/>
                  </a:lnTo>
                  <a:close/>
                </a:path>
              </a:pathLst>
            </a:custGeom>
            <a:ln w="19050" cap="sq">
              <a:solidFill>
                <a:srgbClr val="BDD0A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76637" cy="6781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667618" y="8296275"/>
            <a:ext cx="11158192" cy="199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 spc="-79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MOU</a:t>
            </a:r>
            <a:r>
              <a:rPr lang="en-US" sz="1900" spc="-79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NTED DIRECTLY ON THE ARDUINO MEGA AS A SHIELD.</a:t>
            </a:r>
          </a:p>
          <a:p>
            <a:pPr algn="l">
              <a:lnSpc>
                <a:spcPts val="2280"/>
              </a:lnSpc>
            </a:pPr>
            <a:r>
              <a:rPr lang="en-US" sz="1900" spc="-79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RESPONSIBLE FOR:</a:t>
            </a:r>
          </a:p>
          <a:p>
            <a:pPr algn="l" marL="410211" indent="-205106" lvl="1">
              <a:lnSpc>
                <a:spcPts val="2280"/>
              </a:lnSpc>
              <a:buFont typeface="Arial"/>
              <a:buChar char="•"/>
            </a:pPr>
            <a:r>
              <a:rPr lang="en-US" sz="1900" spc="-79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POWER DISTRIBUTION</a:t>
            </a:r>
          </a:p>
          <a:p>
            <a:pPr algn="l" marL="410211" indent="-205106" lvl="1">
              <a:lnSpc>
                <a:spcPts val="2280"/>
              </a:lnSpc>
              <a:buFont typeface="Arial"/>
              <a:buChar char="•"/>
            </a:pPr>
            <a:r>
              <a:rPr lang="en-US" sz="1900" spc="-79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SENSOR</a:t>
            </a:r>
            <a:r>
              <a:rPr lang="en-US" sz="1900" spc="-79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 Connections</a:t>
            </a:r>
          </a:p>
          <a:p>
            <a:pPr algn="l" marL="410211" indent="-205106" lvl="1">
              <a:lnSpc>
                <a:spcPts val="2280"/>
              </a:lnSpc>
              <a:buFont typeface="Arial"/>
              <a:buChar char="•"/>
            </a:pPr>
            <a:r>
              <a:rPr lang="en-US" sz="1900" spc="-79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COMMUNI</a:t>
            </a:r>
            <a:r>
              <a:rPr lang="en-US" sz="1900" spc="-79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cation with Raspberry Pi</a:t>
            </a:r>
          </a:p>
          <a:p>
            <a:pPr algn="l">
              <a:lnSpc>
                <a:spcPts val="2280"/>
              </a:lnSpc>
            </a:pPr>
            <a:r>
              <a:rPr lang="en-US" sz="1900" spc="-79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This modular design reduces cable complexity and makes troubleshooting easier</a:t>
            </a:r>
          </a:p>
          <a:p>
            <a:pPr algn="l">
              <a:lnSpc>
                <a:spcPts val="2280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667618" y="7773310"/>
            <a:ext cx="5478236" cy="417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2"/>
              </a:lnSpc>
            </a:pPr>
            <a:r>
              <a:rPr lang="en-US" sz="2600" spc="-101" b="true">
                <a:solidFill>
                  <a:srgbClr val="000000"/>
                </a:solidFill>
                <a:latin typeface="Cerebri Bold"/>
                <a:ea typeface="Cerebri Bold"/>
                <a:cs typeface="Cerebri Bold"/>
                <a:sym typeface="Cerebri Bold"/>
              </a:rPr>
              <a:t>3. Centralized Module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8743508" y="638580"/>
            <a:ext cx="8658490" cy="6394544"/>
            <a:chOff x="0" y="0"/>
            <a:chExt cx="2280425" cy="16841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80425" cy="1684160"/>
            </a:xfrm>
            <a:custGeom>
              <a:avLst/>
              <a:gdLst/>
              <a:ahLst/>
              <a:cxnLst/>
              <a:rect r="r" b="b" t="t" l="l"/>
              <a:pathLst>
                <a:path h="1684160" w="2280425">
                  <a:moveTo>
                    <a:pt x="0" y="0"/>
                  </a:moveTo>
                  <a:lnTo>
                    <a:pt x="2280425" y="0"/>
                  </a:lnTo>
                  <a:lnTo>
                    <a:pt x="2280425" y="1684160"/>
                  </a:lnTo>
                  <a:lnTo>
                    <a:pt x="0" y="16841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280425" cy="17222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397433" y="1357061"/>
            <a:ext cx="6995473" cy="4952990"/>
            <a:chOff x="0" y="0"/>
            <a:chExt cx="1395372" cy="98796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95372" cy="987963"/>
            </a:xfrm>
            <a:custGeom>
              <a:avLst/>
              <a:gdLst/>
              <a:ahLst/>
              <a:cxnLst/>
              <a:rect r="r" b="b" t="t" l="l"/>
              <a:pathLst>
                <a:path h="987963" w="1395372">
                  <a:moveTo>
                    <a:pt x="0" y="0"/>
                  </a:moveTo>
                  <a:lnTo>
                    <a:pt x="1395372" y="0"/>
                  </a:lnTo>
                  <a:lnTo>
                    <a:pt x="1395372" y="987963"/>
                  </a:lnTo>
                  <a:lnTo>
                    <a:pt x="0" y="987963"/>
                  </a:lnTo>
                  <a:close/>
                </a:path>
              </a:pathLst>
            </a:custGeom>
            <a:blipFill>
              <a:blip r:embed="rId2"/>
              <a:stretch>
                <a:fillRect l="-3978" t="0" r="-3978" b="0"/>
              </a:stretch>
            </a:blipFill>
            <a:ln w="38100" cap="sq">
              <a:solidFill>
                <a:srgbClr val="004632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457200" y="250825"/>
            <a:ext cx="6973663" cy="165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49"/>
              </a:lnSpc>
            </a:pPr>
            <a:r>
              <a:rPr lang="en-US" sz="11499" spc="-574">
                <a:solidFill>
                  <a:srgbClr val="000000"/>
                </a:solidFill>
                <a:latin typeface="Norwester"/>
                <a:ea typeface="Norwester"/>
                <a:cs typeface="Norwester"/>
                <a:sym typeface="Norwester"/>
              </a:rPr>
              <a:t>PCB</a:t>
            </a:r>
            <a:r>
              <a:rPr lang="en-US" sz="11499" spc="-574">
                <a:solidFill>
                  <a:srgbClr val="000000"/>
                </a:solidFill>
                <a:latin typeface="Norwester"/>
                <a:ea typeface="Norwester"/>
                <a:cs typeface="Norwester"/>
                <a:sym typeface="Norwester"/>
              </a:rPr>
              <a:t> DESIGN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-904867" y="3776406"/>
            <a:ext cx="7268366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000000"/>
                </a:solidFill>
                <a:latin typeface="Cerebri Bold"/>
                <a:ea typeface="Cerebri Bold"/>
                <a:cs typeface="Cerebri Bold"/>
                <a:sym typeface="Cerebri Bold"/>
              </a:rPr>
              <a:t>1. Metal Detector Module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67618" y="4300916"/>
            <a:ext cx="2984976" cy="104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Metal Detector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Five Proximity Sensors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Status LEDs</a:t>
            </a:r>
          </a:p>
        </p:txBody>
      </p:sp>
    </p:spTree>
  </p:cSld>
  <p:clrMapOvr>
    <a:masterClrMapping/>
  </p:clrMapOvr>
  <p:transition spd="fast">
    <p:wipe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18408" y="-293904"/>
            <a:ext cx="10489215" cy="10914227"/>
            <a:chOff x="0" y="0"/>
            <a:chExt cx="2762592" cy="28745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62592" cy="2874529"/>
            </a:xfrm>
            <a:custGeom>
              <a:avLst/>
              <a:gdLst/>
              <a:ahLst/>
              <a:cxnLst/>
              <a:rect r="r" b="b" t="t" l="l"/>
              <a:pathLst>
                <a:path h="2874529" w="2762592">
                  <a:moveTo>
                    <a:pt x="0" y="0"/>
                  </a:moveTo>
                  <a:lnTo>
                    <a:pt x="2762592" y="0"/>
                  </a:lnTo>
                  <a:lnTo>
                    <a:pt x="2762592" y="2874529"/>
                  </a:lnTo>
                  <a:lnTo>
                    <a:pt x="0" y="2874529"/>
                  </a:lnTo>
                  <a:close/>
                </a:path>
              </a:pathLst>
            </a:custGeom>
            <a:solidFill>
              <a:srgbClr val="C7211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62592" cy="29126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00259" y="714372"/>
            <a:ext cx="9384870" cy="5641027"/>
            <a:chOff x="0" y="0"/>
            <a:chExt cx="1248056" cy="7501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48056" cy="750178"/>
            </a:xfrm>
            <a:custGeom>
              <a:avLst/>
              <a:gdLst/>
              <a:ahLst/>
              <a:cxnLst/>
              <a:rect r="r" b="b" t="t" l="l"/>
              <a:pathLst>
                <a:path h="750178" w="1248056">
                  <a:moveTo>
                    <a:pt x="0" y="0"/>
                  </a:moveTo>
                  <a:lnTo>
                    <a:pt x="1248056" y="0"/>
                  </a:lnTo>
                  <a:lnTo>
                    <a:pt x="1248056" y="750178"/>
                  </a:lnTo>
                  <a:lnTo>
                    <a:pt x="0" y="750178"/>
                  </a:lnTo>
                  <a:close/>
                </a:path>
              </a:pathLst>
            </a:custGeom>
            <a:blipFill>
              <a:blip r:embed="rId2"/>
              <a:stretch>
                <a:fillRect l="-7943" t="0" r="-7943" b="0"/>
              </a:stretch>
            </a:blipFill>
            <a:ln w="38100" cap="sq">
              <a:solidFill>
                <a:srgbClr val="004632"/>
              </a:solidFill>
              <a:prstDash val="solid"/>
              <a:miter/>
            </a:ln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4547403" y="0"/>
            <a:ext cx="3849599" cy="1917800"/>
          </a:xfrm>
          <a:custGeom>
            <a:avLst/>
            <a:gdLst/>
            <a:ahLst/>
            <a:cxnLst/>
            <a:rect r="r" b="b" t="t" l="l"/>
            <a:pathLst>
              <a:path h="1917800" w="3849599">
                <a:moveTo>
                  <a:pt x="0" y="0"/>
                </a:moveTo>
                <a:lnTo>
                  <a:pt x="3849598" y="0"/>
                </a:lnTo>
                <a:lnTo>
                  <a:pt x="3849598" y="1917800"/>
                </a:lnTo>
                <a:lnTo>
                  <a:pt x="0" y="1917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475064" y="2051018"/>
            <a:ext cx="7449646" cy="6224382"/>
            <a:chOff x="0" y="0"/>
            <a:chExt cx="9932861" cy="8299177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9932861" cy="8299177"/>
              <a:chOff x="0" y="0"/>
              <a:chExt cx="1962047" cy="1639344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962047" cy="1639344"/>
              </a:xfrm>
              <a:custGeom>
                <a:avLst/>
                <a:gdLst/>
                <a:ahLst/>
                <a:cxnLst/>
                <a:rect r="r" b="b" t="t" l="l"/>
                <a:pathLst>
                  <a:path h="1639344" w="1962047">
                    <a:moveTo>
                      <a:pt x="0" y="0"/>
                    </a:moveTo>
                    <a:lnTo>
                      <a:pt x="1962047" y="0"/>
                    </a:lnTo>
                    <a:lnTo>
                      <a:pt x="1962047" y="1639344"/>
                    </a:lnTo>
                    <a:lnTo>
                      <a:pt x="0" y="1639344"/>
                    </a:lnTo>
                    <a:close/>
                  </a:path>
                </a:pathLst>
              </a:custGeom>
              <a:ln w="19050" cap="sq">
                <a:solidFill>
                  <a:srgbClr val="BDD0A0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1962047" cy="167744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00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546469" y="1398511"/>
              <a:ext cx="7642816" cy="55962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96"/>
                </a:lnSpc>
              </a:pPr>
            </a:p>
            <a:p>
              <a:pPr algn="l">
                <a:lnSpc>
                  <a:spcPts val="2596"/>
                </a:lnSpc>
              </a:pPr>
              <a:r>
                <a:rPr lang="en-US" sz="2163" spc="-90">
                  <a:solidFill>
                    <a:srgbClr val="000000"/>
                  </a:solidFill>
                  <a:latin typeface="Cerebri"/>
                  <a:ea typeface="Cerebri"/>
                  <a:cs typeface="Cerebri"/>
                  <a:sym typeface="Cerebri"/>
                </a:rPr>
                <a:t>The robot is controlled using ROS 2.</a:t>
              </a:r>
            </a:p>
            <a:p>
              <a:pPr algn="l">
                <a:lnSpc>
                  <a:spcPts val="2596"/>
                </a:lnSpc>
              </a:pPr>
              <a:r>
                <a:rPr lang="en-US" sz="2163" spc="-90">
                  <a:solidFill>
                    <a:srgbClr val="000000"/>
                  </a:solidFill>
                  <a:latin typeface="Cerebri"/>
                  <a:ea typeface="Cerebri"/>
                  <a:cs typeface="Cerebri"/>
                  <a:sym typeface="Cerebri"/>
                </a:rPr>
                <a:t>De</a:t>
              </a:r>
              <a:r>
                <a:rPr lang="en-US" sz="2163" spc="-90">
                  <a:solidFill>
                    <a:srgbClr val="000000"/>
                  </a:solidFill>
                  <a:latin typeface="Cerebri"/>
                  <a:ea typeface="Cerebri"/>
                  <a:cs typeface="Cerebri"/>
                  <a:sym typeface="Cerebri"/>
                </a:rPr>
                <a:t>DICATED ROS NODES MANAGE:</a:t>
              </a:r>
            </a:p>
            <a:p>
              <a:pPr algn="l" marL="467110" indent="-233555" lvl="1">
                <a:lnSpc>
                  <a:spcPts val="2596"/>
                </a:lnSpc>
                <a:buFont typeface="Arial"/>
                <a:buChar char="•"/>
              </a:pPr>
              <a:r>
                <a:rPr lang="en-US" sz="2163" spc="-90">
                  <a:solidFill>
                    <a:srgbClr val="000000"/>
                  </a:solidFill>
                  <a:latin typeface="Cerebri"/>
                  <a:ea typeface="Cerebri"/>
                  <a:cs typeface="Cerebri"/>
                  <a:sym typeface="Cerebri"/>
                </a:rPr>
                <a:t>VISION PROCESSING</a:t>
              </a:r>
            </a:p>
            <a:p>
              <a:pPr algn="l" marL="467110" indent="-233555" lvl="1">
                <a:lnSpc>
                  <a:spcPts val="2596"/>
                </a:lnSpc>
                <a:buFont typeface="Arial"/>
                <a:buChar char="•"/>
              </a:pPr>
              <a:r>
                <a:rPr lang="en-US" sz="2163" spc="-90">
                  <a:solidFill>
                    <a:srgbClr val="000000"/>
                  </a:solidFill>
                  <a:latin typeface="Cerebri"/>
                  <a:ea typeface="Cerebri"/>
                  <a:cs typeface="Cerebri"/>
                  <a:sym typeface="Cerebri"/>
                </a:rPr>
                <a:t>LOCALIZATION</a:t>
              </a:r>
            </a:p>
            <a:p>
              <a:pPr algn="l" marL="467110" indent="-233555" lvl="1">
                <a:lnSpc>
                  <a:spcPts val="2596"/>
                </a:lnSpc>
                <a:buFont typeface="Arial"/>
                <a:buChar char="•"/>
              </a:pPr>
              <a:r>
                <a:rPr lang="en-US" sz="2163" spc="-90">
                  <a:solidFill>
                    <a:srgbClr val="000000"/>
                  </a:solidFill>
                  <a:latin typeface="Cerebri"/>
                  <a:ea typeface="Cerebri"/>
                  <a:cs typeface="Cerebri"/>
                  <a:sym typeface="Cerebri"/>
                </a:rPr>
                <a:t>MINE DETECTION</a:t>
              </a:r>
            </a:p>
            <a:p>
              <a:pPr algn="l" marL="467110" indent="-233555" lvl="1">
                <a:lnSpc>
                  <a:spcPts val="2596"/>
                </a:lnSpc>
                <a:buFont typeface="Arial"/>
                <a:buChar char="•"/>
              </a:pPr>
              <a:r>
                <a:rPr lang="en-US" sz="2163" spc="-90">
                  <a:solidFill>
                    <a:srgbClr val="000000"/>
                  </a:solidFill>
                  <a:latin typeface="Cerebri"/>
                  <a:ea typeface="Cerebri"/>
                  <a:cs typeface="Cerebri"/>
                  <a:sym typeface="Cerebri"/>
                </a:rPr>
                <a:t>NAVIGATION</a:t>
              </a:r>
            </a:p>
            <a:p>
              <a:pPr algn="l" marL="467110" indent="-233555" lvl="1">
                <a:lnSpc>
                  <a:spcPts val="2596"/>
                </a:lnSpc>
                <a:buFont typeface="Arial"/>
                <a:buChar char="•"/>
              </a:pPr>
              <a:r>
                <a:rPr lang="en-US" sz="2163" spc="-90">
                  <a:solidFill>
                    <a:srgbClr val="000000"/>
                  </a:solidFill>
                  <a:latin typeface="Cerebri"/>
                  <a:ea typeface="Cerebri"/>
                  <a:cs typeface="Cerebri"/>
                  <a:sym typeface="Cerebri"/>
                </a:rPr>
                <a:t>MINEFIELD MAPPING</a:t>
              </a:r>
            </a:p>
            <a:p>
              <a:pPr algn="l">
                <a:lnSpc>
                  <a:spcPts val="2596"/>
                </a:lnSpc>
              </a:pPr>
              <a:r>
                <a:rPr lang="en-US" sz="2163" spc="-90">
                  <a:solidFill>
                    <a:srgbClr val="000000"/>
                  </a:solidFill>
                  <a:latin typeface="Cerebri"/>
                  <a:ea typeface="Cerebri"/>
                  <a:cs typeface="Cerebri"/>
                  <a:sym typeface="Cerebri"/>
                </a:rPr>
                <a:t>THE ROBOT MOVES AUTONOMOUSLY USING A LAWNMOWER (ZIGZAG) COVERAGE STRATEGY, SCANNING THE ENTIRE FIELD WHILE GENERATING THE MINE MAP AUTOMATICALLY.</a:t>
              </a:r>
            </a:p>
            <a:p>
              <a:pPr algn="l">
                <a:lnSpc>
                  <a:spcPts val="2596"/>
                </a:lnSpc>
              </a:pP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365501" y="246726"/>
              <a:ext cx="7823783" cy="8553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279"/>
                </a:lnSpc>
              </a:pPr>
              <a:r>
                <a:rPr lang="en-US" sz="3999" spc="-155" b="true">
                  <a:solidFill>
                    <a:srgbClr val="000000"/>
                  </a:solidFill>
                  <a:latin typeface="Cerebri Bold"/>
                  <a:ea typeface="Cerebri Bold"/>
                  <a:cs typeface="Cerebri Bold"/>
                  <a:sym typeface="Cerebri Bold"/>
                </a:rPr>
                <a:t>Software Architecture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451108" y="6967103"/>
            <a:ext cx="9410012" cy="2513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0"/>
              </a:lnSpc>
            </a:pPr>
            <a:r>
              <a:rPr lang="en-US" sz="8900" spc="-445">
                <a:solidFill>
                  <a:srgbClr val="000000"/>
                </a:solidFill>
                <a:latin typeface="Norwester"/>
                <a:ea typeface="Norwester"/>
                <a:cs typeface="Norwester"/>
                <a:sym typeface="Norwester"/>
              </a:rPr>
              <a:t>SOFTWAR</a:t>
            </a:r>
            <a:r>
              <a:rPr lang="en-US" sz="8900" spc="-445">
                <a:solidFill>
                  <a:srgbClr val="000000"/>
                </a:solidFill>
                <a:latin typeface="Norwester"/>
                <a:ea typeface="Norwester"/>
                <a:cs typeface="Norwester"/>
                <a:sym typeface="Norwester"/>
              </a:rPr>
              <a:t>E &amp; CONTROL ARCHITECTURE</a:t>
            </a:r>
          </a:p>
        </p:txBody>
      </p:sp>
    </p:spTree>
  </p:cSld>
  <p:clrMapOvr>
    <a:masterClrMapping/>
  </p:clrMapOvr>
  <p:transition spd="fast">
    <p:wipe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719836" y="-314897"/>
            <a:ext cx="9197959" cy="11063747"/>
            <a:chOff x="0" y="0"/>
            <a:chExt cx="2422508" cy="29139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22508" cy="2913909"/>
            </a:xfrm>
            <a:custGeom>
              <a:avLst/>
              <a:gdLst/>
              <a:ahLst/>
              <a:cxnLst/>
              <a:rect r="r" b="b" t="t" l="l"/>
              <a:pathLst>
                <a:path h="2913909" w="2422508">
                  <a:moveTo>
                    <a:pt x="0" y="0"/>
                  </a:moveTo>
                  <a:lnTo>
                    <a:pt x="2422508" y="0"/>
                  </a:lnTo>
                  <a:lnTo>
                    <a:pt x="2422508" y="2913909"/>
                  </a:lnTo>
                  <a:lnTo>
                    <a:pt x="0" y="2913909"/>
                  </a:lnTo>
                  <a:close/>
                </a:path>
              </a:pathLst>
            </a:custGeom>
            <a:solidFill>
              <a:srgbClr val="D8D8D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22508" cy="29520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25147" y="544823"/>
            <a:ext cx="8818464" cy="325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49"/>
              </a:lnSpc>
            </a:pPr>
            <a:r>
              <a:rPr lang="en-US" sz="11499" spc="-574">
                <a:solidFill>
                  <a:srgbClr val="000000"/>
                </a:solidFill>
                <a:latin typeface="Norwester"/>
                <a:ea typeface="Norwester"/>
                <a:cs typeface="Norwester"/>
                <a:sym typeface="Norwester"/>
              </a:rPr>
              <a:t>SYST</a:t>
            </a:r>
            <a:r>
              <a:rPr lang="en-US" sz="11499" spc="-574">
                <a:solidFill>
                  <a:srgbClr val="000000"/>
                </a:solidFill>
                <a:latin typeface="Norwester"/>
                <a:ea typeface="Norwester"/>
                <a:cs typeface="Norwester"/>
                <a:sym typeface="Norwester"/>
              </a:rPr>
              <a:t>EM WORKFLOW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3788716" y="6457826"/>
            <a:ext cx="4499284" cy="4114800"/>
          </a:xfrm>
          <a:custGeom>
            <a:avLst/>
            <a:gdLst/>
            <a:ahLst/>
            <a:cxnLst/>
            <a:rect r="r" b="b" t="t" l="l"/>
            <a:pathLst>
              <a:path h="4114800" w="4499284">
                <a:moveTo>
                  <a:pt x="0" y="0"/>
                </a:moveTo>
                <a:lnTo>
                  <a:pt x="4499284" y="0"/>
                </a:lnTo>
                <a:lnTo>
                  <a:pt x="44992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812690" y="449573"/>
            <a:ext cx="6446610" cy="9599144"/>
          </a:xfrm>
          <a:custGeom>
            <a:avLst/>
            <a:gdLst/>
            <a:ahLst/>
            <a:cxnLst/>
            <a:rect r="r" b="b" t="t" l="l"/>
            <a:pathLst>
              <a:path h="9599144" w="6446610">
                <a:moveTo>
                  <a:pt x="0" y="0"/>
                </a:moveTo>
                <a:lnTo>
                  <a:pt x="6446610" y="0"/>
                </a:lnTo>
                <a:lnTo>
                  <a:pt x="6446610" y="9599144"/>
                </a:lnTo>
                <a:lnTo>
                  <a:pt x="0" y="95991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86296" y="5086350"/>
            <a:ext cx="6306787" cy="2600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Cerebri"/>
                <a:ea typeface="Cerebri"/>
                <a:cs typeface="Cerebri"/>
                <a:sym typeface="Cerebri"/>
              </a:rPr>
              <a:t>This workflow illustrates how sensor data flows through the controllers and software to produce autonomous robot movement and mapping.</a:t>
            </a:r>
          </a:p>
        </p:txBody>
      </p:sp>
    </p:spTree>
  </p:cSld>
  <p:clrMapOvr>
    <a:masterClrMapping/>
  </p:clrMapOvr>
  <p:transition spd="fast">
    <p:wipe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28225" y="699260"/>
            <a:ext cx="10724606" cy="7994706"/>
          </a:xfrm>
          <a:custGeom>
            <a:avLst/>
            <a:gdLst/>
            <a:ahLst/>
            <a:cxnLst/>
            <a:rect r="r" b="b" t="t" l="l"/>
            <a:pathLst>
              <a:path h="7994706" w="10724606">
                <a:moveTo>
                  <a:pt x="0" y="0"/>
                </a:moveTo>
                <a:lnTo>
                  <a:pt x="10724606" y="0"/>
                </a:lnTo>
                <a:lnTo>
                  <a:pt x="10724606" y="7994706"/>
                </a:lnTo>
                <a:lnTo>
                  <a:pt x="0" y="79947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762443" y="3731833"/>
            <a:ext cx="7256170" cy="2062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91"/>
              </a:lnSpc>
            </a:pPr>
            <a:r>
              <a:rPr lang="en-US" sz="14446" spc="-722">
                <a:solidFill>
                  <a:srgbClr val="000000"/>
                </a:solidFill>
                <a:latin typeface="Norwester"/>
                <a:ea typeface="Norwester"/>
                <a:cs typeface="Norwester"/>
                <a:sym typeface="Norwester"/>
              </a:rPr>
              <a:t>THANK YOU</a:t>
            </a:r>
          </a:p>
        </p:txBody>
      </p:sp>
    </p:spTree>
  </p:cSld>
  <p:clrMapOvr>
    <a:masterClrMapping/>
  </p:clrMapOvr>
  <p:transition spd="fast">
    <p:wipe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DAHP2BbzHh8</dc:identifier>
  <dcterms:modified xsi:type="dcterms:W3CDTF">2011-08-01T06:04:30Z</dcterms:modified>
  <cp:revision>1</cp:revision>
  <dc:title>Landmines remain a serious threat in many regions, making manual detection dangerous and time-consuming. Our project presents an autonomous robot capable of navigating the minefield, detecting both surface and buried mines, collecting surface mines, and</dc:title>
</cp:coreProperties>
</file>